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0" d="100"/>
          <a:sy n="60" d="100"/>
        </p:scale>
        <p:origin x="72" y="1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FA374-EA5F-D845-BE9A-B41E7D1DBA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98CDE53-2AEC-23DD-CBFA-5BC2E9B172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BB3A4D-2108-4A20-BC85-9A5F097A0C98}"/>
              </a:ext>
            </a:extLst>
          </p:cNvPr>
          <p:cNvSpPr>
            <a:spLocks noGrp="1"/>
          </p:cNvSpPr>
          <p:nvPr>
            <p:ph type="dt" sz="half" idx="10"/>
          </p:nvPr>
        </p:nvSpPr>
        <p:spPr/>
        <p:txBody>
          <a:bodyPr/>
          <a:lstStyle/>
          <a:p>
            <a:fld id="{1517A30B-DE31-4528-9630-149B4283C4DE}" type="datetimeFigureOut">
              <a:rPr lang="en-US" smtClean="0"/>
              <a:t>8/12/2023</a:t>
            </a:fld>
            <a:endParaRPr lang="en-US"/>
          </a:p>
        </p:txBody>
      </p:sp>
      <p:sp>
        <p:nvSpPr>
          <p:cNvPr id="5" name="Footer Placeholder 4">
            <a:extLst>
              <a:ext uri="{FF2B5EF4-FFF2-40B4-BE49-F238E27FC236}">
                <a16:creationId xmlns:a16="http://schemas.microsoft.com/office/drawing/2014/main" id="{CAC255CA-1B2E-BA01-DD39-572D2101B6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B0D85F-A31F-072F-B74D-E4E279D9FA56}"/>
              </a:ext>
            </a:extLst>
          </p:cNvPr>
          <p:cNvSpPr>
            <a:spLocks noGrp="1"/>
          </p:cNvSpPr>
          <p:nvPr>
            <p:ph type="sldNum" sz="quarter" idx="12"/>
          </p:nvPr>
        </p:nvSpPr>
        <p:spPr/>
        <p:txBody>
          <a:bodyPr/>
          <a:lstStyle/>
          <a:p>
            <a:fld id="{57B7ECC4-BC82-44E7-9950-312673BE2F8D}" type="slidenum">
              <a:rPr lang="en-US" smtClean="0"/>
              <a:t>‹#›</a:t>
            </a:fld>
            <a:endParaRPr lang="en-US"/>
          </a:p>
        </p:txBody>
      </p:sp>
    </p:spTree>
    <p:extLst>
      <p:ext uri="{BB962C8B-B14F-4D97-AF65-F5344CB8AC3E}">
        <p14:creationId xmlns:p14="http://schemas.microsoft.com/office/powerpoint/2010/main" val="34810213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28737-DDF2-B118-A6B5-99A1C0FE5B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4FBEEC-9953-5393-28EF-4460BEA508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C886D7-62A3-4E3C-02E5-37676DB53625}"/>
              </a:ext>
            </a:extLst>
          </p:cNvPr>
          <p:cNvSpPr>
            <a:spLocks noGrp="1"/>
          </p:cNvSpPr>
          <p:nvPr>
            <p:ph type="dt" sz="half" idx="10"/>
          </p:nvPr>
        </p:nvSpPr>
        <p:spPr/>
        <p:txBody>
          <a:bodyPr/>
          <a:lstStyle/>
          <a:p>
            <a:fld id="{1517A30B-DE31-4528-9630-149B4283C4DE}" type="datetimeFigureOut">
              <a:rPr lang="en-US" smtClean="0"/>
              <a:t>8/12/2023</a:t>
            </a:fld>
            <a:endParaRPr lang="en-US"/>
          </a:p>
        </p:txBody>
      </p:sp>
      <p:sp>
        <p:nvSpPr>
          <p:cNvPr id="5" name="Footer Placeholder 4">
            <a:extLst>
              <a:ext uri="{FF2B5EF4-FFF2-40B4-BE49-F238E27FC236}">
                <a16:creationId xmlns:a16="http://schemas.microsoft.com/office/drawing/2014/main" id="{0526578F-D8C4-ACC7-3A7B-59E3DEF826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4CC5C5-8C8A-4A39-615B-03A63F4C9EA2}"/>
              </a:ext>
            </a:extLst>
          </p:cNvPr>
          <p:cNvSpPr>
            <a:spLocks noGrp="1"/>
          </p:cNvSpPr>
          <p:nvPr>
            <p:ph type="sldNum" sz="quarter" idx="12"/>
          </p:nvPr>
        </p:nvSpPr>
        <p:spPr/>
        <p:txBody>
          <a:bodyPr/>
          <a:lstStyle/>
          <a:p>
            <a:fld id="{57B7ECC4-BC82-44E7-9950-312673BE2F8D}" type="slidenum">
              <a:rPr lang="en-US" smtClean="0"/>
              <a:t>‹#›</a:t>
            </a:fld>
            <a:endParaRPr lang="en-US"/>
          </a:p>
        </p:txBody>
      </p:sp>
    </p:spTree>
    <p:extLst>
      <p:ext uri="{BB962C8B-B14F-4D97-AF65-F5344CB8AC3E}">
        <p14:creationId xmlns:p14="http://schemas.microsoft.com/office/powerpoint/2010/main" val="1302211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9BA6E-8CB3-43F2-E8F5-9B361DE3CD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A1E34A-8384-89D0-9400-B4E86CBD6B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A083F1-B2EB-BC6C-4F16-EC9A34FCE81F}"/>
              </a:ext>
            </a:extLst>
          </p:cNvPr>
          <p:cNvSpPr>
            <a:spLocks noGrp="1"/>
          </p:cNvSpPr>
          <p:nvPr>
            <p:ph type="dt" sz="half" idx="10"/>
          </p:nvPr>
        </p:nvSpPr>
        <p:spPr/>
        <p:txBody>
          <a:bodyPr/>
          <a:lstStyle/>
          <a:p>
            <a:fld id="{1517A30B-DE31-4528-9630-149B4283C4DE}" type="datetimeFigureOut">
              <a:rPr lang="en-US" smtClean="0"/>
              <a:t>8/12/2023</a:t>
            </a:fld>
            <a:endParaRPr lang="en-US"/>
          </a:p>
        </p:txBody>
      </p:sp>
      <p:sp>
        <p:nvSpPr>
          <p:cNvPr id="5" name="Footer Placeholder 4">
            <a:extLst>
              <a:ext uri="{FF2B5EF4-FFF2-40B4-BE49-F238E27FC236}">
                <a16:creationId xmlns:a16="http://schemas.microsoft.com/office/drawing/2014/main" id="{F83E71C4-5D33-139B-53BE-F782A96D0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F03479-9514-0765-05BE-E569919EBF97}"/>
              </a:ext>
            </a:extLst>
          </p:cNvPr>
          <p:cNvSpPr>
            <a:spLocks noGrp="1"/>
          </p:cNvSpPr>
          <p:nvPr>
            <p:ph type="sldNum" sz="quarter" idx="12"/>
          </p:nvPr>
        </p:nvSpPr>
        <p:spPr/>
        <p:txBody>
          <a:bodyPr/>
          <a:lstStyle/>
          <a:p>
            <a:fld id="{57B7ECC4-BC82-44E7-9950-312673BE2F8D}" type="slidenum">
              <a:rPr lang="en-US" smtClean="0"/>
              <a:t>‹#›</a:t>
            </a:fld>
            <a:endParaRPr lang="en-US"/>
          </a:p>
        </p:txBody>
      </p:sp>
    </p:spTree>
    <p:extLst>
      <p:ext uri="{BB962C8B-B14F-4D97-AF65-F5344CB8AC3E}">
        <p14:creationId xmlns:p14="http://schemas.microsoft.com/office/powerpoint/2010/main" val="2717276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00D5-88D4-BA92-E9A0-FDDC765BA8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5153C1-F628-30A4-A97F-8F3D94223B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35FB0F-4DBC-30B9-D53A-0B58A9B662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12D14E2-CEB1-9562-D9D7-5EFA3B7EA6F1}"/>
              </a:ext>
            </a:extLst>
          </p:cNvPr>
          <p:cNvSpPr>
            <a:spLocks noGrp="1"/>
          </p:cNvSpPr>
          <p:nvPr>
            <p:ph type="dt" sz="half" idx="10"/>
          </p:nvPr>
        </p:nvSpPr>
        <p:spPr/>
        <p:txBody>
          <a:bodyPr/>
          <a:lstStyle/>
          <a:p>
            <a:fld id="{1517A30B-DE31-4528-9630-149B4283C4DE}" type="datetimeFigureOut">
              <a:rPr lang="en-US" smtClean="0"/>
              <a:t>8/12/2023</a:t>
            </a:fld>
            <a:endParaRPr lang="en-US"/>
          </a:p>
        </p:txBody>
      </p:sp>
      <p:sp>
        <p:nvSpPr>
          <p:cNvPr id="6" name="Footer Placeholder 5">
            <a:extLst>
              <a:ext uri="{FF2B5EF4-FFF2-40B4-BE49-F238E27FC236}">
                <a16:creationId xmlns:a16="http://schemas.microsoft.com/office/drawing/2014/main" id="{384F58AA-0371-900D-7B93-782D9C4493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3CBF07-7781-37A6-6153-8B4FF39674E0}"/>
              </a:ext>
            </a:extLst>
          </p:cNvPr>
          <p:cNvSpPr>
            <a:spLocks noGrp="1"/>
          </p:cNvSpPr>
          <p:nvPr>
            <p:ph type="sldNum" sz="quarter" idx="12"/>
          </p:nvPr>
        </p:nvSpPr>
        <p:spPr/>
        <p:txBody>
          <a:bodyPr/>
          <a:lstStyle/>
          <a:p>
            <a:fld id="{57B7ECC4-BC82-44E7-9950-312673BE2F8D}" type="slidenum">
              <a:rPr lang="en-US" smtClean="0"/>
              <a:t>‹#›</a:t>
            </a:fld>
            <a:endParaRPr lang="en-US"/>
          </a:p>
        </p:txBody>
      </p:sp>
    </p:spTree>
    <p:extLst>
      <p:ext uri="{BB962C8B-B14F-4D97-AF65-F5344CB8AC3E}">
        <p14:creationId xmlns:p14="http://schemas.microsoft.com/office/powerpoint/2010/main" val="3743722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0BB5E-5CFF-F130-9B11-653CBDF1F6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A081999-4030-07A8-D9B3-1982BB362B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0D2807-1626-D7FF-B396-D41C73EF837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355171-5DF9-60FF-B339-ECDB82074A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08EFFD-09FA-3CFC-F02E-784E62745E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A677EB5-283D-9099-CDC7-A091A51D8F72}"/>
              </a:ext>
            </a:extLst>
          </p:cNvPr>
          <p:cNvSpPr>
            <a:spLocks noGrp="1"/>
          </p:cNvSpPr>
          <p:nvPr>
            <p:ph type="dt" sz="half" idx="10"/>
          </p:nvPr>
        </p:nvSpPr>
        <p:spPr/>
        <p:txBody>
          <a:bodyPr/>
          <a:lstStyle/>
          <a:p>
            <a:fld id="{1517A30B-DE31-4528-9630-149B4283C4DE}" type="datetimeFigureOut">
              <a:rPr lang="en-US" smtClean="0"/>
              <a:t>8/12/2023</a:t>
            </a:fld>
            <a:endParaRPr lang="en-US"/>
          </a:p>
        </p:txBody>
      </p:sp>
      <p:sp>
        <p:nvSpPr>
          <p:cNvPr id="8" name="Footer Placeholder 7">
            <a:extLst>
              <a:ext uri="{FF2B5EF4-FFF2-40B4-BE49-F238E27FC236}">
                <a16:creationId xmlns:a16="http://schemas.microsoft.com/office/drawing/2014/main" id="{A53B5BBC-E9AB-9953-8E00-C041EE85DF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946E0DC-26E6-AA2C-9948-8140DF367F3B}"/>
              </a:ext>
            </a:extLst>
          </p:cNvPr>
          <p:cNvSpPr>
            <a:spLocks noGrp="1"/>
          </p:cNvSpPr>
          <p:nvPr>
            <p:ph type="sldNum" sz="quarter" idx="12"/>
          </p:nvPr>
        </p:nvSpPr>
        <p:spPr/>
        <p:txBody>
          <a:bodyPr/>
          <a:lstStyle/>
          <a:p>
            <a:fld id="{57B7ECC4-BC82-44E7-9950-312673BE2F8D}" type="slidenum">
              <a:rPr lang="en-US" smtClean="0"/>
              <a:t>‹#›</a:t>
            </a:fld>
            <a:endParaRPr lang="en-US"/>
          </a:p>
        </p:txBody>
      </p:sp>
    </p:spTree>
    <p:extLst>
      <p:ext uri="{BB962C8B-B14F-4D97-AF65-F5344CB8AC3E}">
        <p14:creationId xmlns:p14="http://schemas.microsoft.com/office/powerpoint/2010/main" val="2143124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3CD7-0E08-8AAA-38FB-814165ACFC6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7AF5B6-015C-0C48-719E-B3303CA66A04}"/>
              </a:ext>
            </a:extLst>
          </p:cNvPr>
          <p:cNvSpPr>
            <a:spLocks noGrp="1"/>
          </p:cNvSpPr>
          <p:nvPr>
            <p:ph type="dt" sz="half" idx="10"/>
          </p:nvPr>
        </p:nvSpPr>
        <p:spPr/>
        <p:txBody>
          <a:bodyPr/>
          <a:lstStyle/>
          <a:p>
            <a:fld id="{1517A30B-DE31-4528-9630-149B4283C4DE}" type="datetimeFigureOut">
              <a:rPr lang="en-US" smtClean="0"/>
              <a:t>8/12/2023</a:t>
            </a:fld>
            <a:endParaRPr lang="en-US"/>
          </a:p>
        </p:txBody>
      </p:sp>
      <p:sp>
        <p:nvSpPr>
          <p:cNvPr id="4" name="Footer Placeholder 3">
            <a:extLst>
              <a:ext uri="{FF2B5EF4-FFF2-40B4-BE49-F238E27FC236}">
                <a16:creationId xmlns:a16="http://schemas.microsoft.com/office/drawing/2014/main" id="{B928AAB2-FB8B-E95A-30CD-5140389DC5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464DFD-423F-7BF8-642B-A7B1AE1E672B}"/>
              </a:ext>
            </a:extLst>
          </p:cNvPr>
          <p:cNvSpPr>
            <a:spLocks noGrp="1"/>
          </p:cNvSpPr>
          <p:nvPr>
            <p:ph type="sldNum" sz="quarter" idx="12"/>
          </p:nvPr>
        </p:nvSpPr>
        <p:spPr/>
        <p:txBody>
          <a:bodyPr/>
          <a:lstStyle/>
          <a:p>
            <a:fld id="{57B7ECC4-BC82-44E7-9950-312673BE2F8D}" type="slidenum">
              <a:rPr lang="en-US" smtClean="0"/>
              <a:t>‹#›</a:t>
            </a:fld>
            <a:endParaRPr lang="en-US"/>
          </a:p>
        </p:txBody>
      </p:sp>
    </p:spTree>
    <p:extLst>
      <p:ext uri="{BB962C8B-B14F-4D97-AF65-F5344CB8AC3E}">
        <p14:creationId xmlns:p14="http://schemas.microsoft.com/office/powerpoint/2010/main" val="994521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B78783-F58E-D98D-A43A-82E7C3066ABA}"/>
              </a:ext>
            </a:extLst>
          </p:cNvPr>
          <p:cNvSpPr>
            <a:spLocks noGrp="1"/>
          </p:cNvSpPr>
          <p:nvPr>
            <p:ph type="dt" sz="half" idx="10"/>
          </p:nvPr>
        </p:nvSpPr>
        <p:spPr/>
        <p:txBody>
          <a:bodyPr/>
          <a:lstStyle/>
          <a:p>
            <a:fld id="{1517A30B-DE31-4528-9630-149B4283C4DE}" type="datetimeFigureOut">
              <a:rPr lang="en-US" smtClean="0"/>
              <a:t>8/12/2023</a:t>
            </a:fld>
            <a:endParaRPr lang="en-US"/>
          </a:p>
        </p:txBody>
      </p:sp>
      <p:sp>
        <p:nvSpPr>
          <p:cNvPr id="3" name="Footer Placeholder 2">
            <a:extLst>
              <a:ext uri="{FF2B5EF4-FFF2-40B4-BE49-F238E27FC236}">
                <a16:creationId xmlns:a16="http://schemas.microsoft.com/office/drawing/2014/main" id="{B4D0EE0E-6EB2-9113-B25A-4FECED80CA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9F3658-0E29-1E1A-10F8-FD2783F94A8A}"/>
              </a:ext>
            </a:extLst>
          </p:cNvPr>
          <p:cNvSpPr>
            <a:spLocks noGrp="1"/>
          </p:cNvSpPr>
          <p:nvPr>
            <p:ph type="sldNum" sz="quarter" idx="12"/>
          </p:nvPr>
        </p:nvSpPr>
        <p:spPr/>
        <p:txBody>
          <a:bodyPr/>
          <a:lstStyle/>
          <a:p>
            <a:fld id="{57B7ECC4-BC82-44E7-9950-312673BE2F8D}" type="slidenum">
              <a:rPr lang="en-US" smtClean="0"/>
              <a:t>‹#›</a:t>
            </a:fld>
            <a:endParaRPr lang="en-US"/>
          </a:p>
        </p:txBody>
      </p:sp>
    </p:spTree>
    <p:extLst>
      <p:ext uri="{BB962C8B-B14F-4D97-AF65-F5344CB8AC3E}">
        <p14:creationId xmlns:p14="http://schemas.microsoft.com/office/powerpoint/2010/main" val="3383504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44145-AFB0-76C2-4872-8A62A8C641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BF98DC-0B7E-FE79-B219-DDEDDFFDC4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631C65-6C3E-FB48-2F96-5B7117D5D8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F2C143-15FA-63A0-82C8-69E203EBAFC2}"/>
              </a:ext>
            </a:extLst>
          </p:cNvPr>
          <p:cNvSpPr>
            <a:spLocks noGrp="1"/>
          </p:cNvSpPr>
          <p:nvPr>
            <p:ph type="dt" sz="half" idx="10"/>
          </p:nvPr>
        </p:nvSpPr>
        <p:spPr/>
        <p:txBody>
          <a:bodyPr/>
          <a:lstStyle/>
          <a:p>
            <a:fld id="{1517A30B-DE31-4528-9630-149B4283C4DE}" type="datetimeFigureOut">
              <a:rPr lang="en-US" smtClean="0"/>
              <a:t>8/12/2023</a:t>
            </a:fld>
            <a:endParaRPr lang="en-US"/>
          </a:p>
        </p:txBody>
      </p:sp>
      <p:sp>
        <p:nvSpPr>
          <p:cNvPr id="6" name="Footer Placeholder 5">
            <a:extLst>
              <a:ext uri="{FF2B5EF4-FFF2-40B4-BE49-F238E27FC236}">
                <a16:creationId xmlns:a16="http://schemas.microsoft.com/office/drawing/2014/main" id="{B850053D-7FC0-4546-B403-76BFFDF919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28BAEA-FA91-CA1C-FC79-34DC38B3FB4C}"/>
              </a:ext>
            </a:extLst>
          </p:cNvPr>
          <p:cNvSpPr>
            <a:spLocks noGrp="1"/>
          </p:cNvSpPr>
          <p:nvPr>
            <p:ph type="sldNum" sz="quarter" idx="12"/>
          </p:nvPr>
        </p:nvSpPr>
        <p:spPr/>
        <p:txBody>
          <a:bodyPr/>
          <a:lstStyle/>
          <a:p>
            <a:fld id="{57B7ECC4-BC82-44E7-9950-312673BE2F8D}" type="slidenum">
              <a:rPr lang="en-US" smtClean="0"/>
              <a:t>‹#›</a:t>
            </a:fld>
            <a:endParaRPr lang="en-US"/>
          </a:p>
        </p:txBody>
      </p:sp>
    </p:spTree>
    <p:extLst>
      <p:ext uri="{BB962C8B-B14F-4D97-AF65-F5344CB8AC3E}">
        <p14:creationId xmlns:p14="http://schemas.microsoft.com/office/powerpoint/2010/main" val="553337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F1ADC-2415-01D0-37F8-BC3C45A1CB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5BF6A4A-3F50-122D-ABFA-056ADAE0F1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A5BAA35-DDBA-6C12-BC50-F3477EBB00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4D5421-AAD0-0943-0236-CFCB341998C8}"/>
              </a:ext>
            </a:extLst>
          </p:cNvPr>
          <p:cNvSpPr>
            <a:spLocks noGrp="1"/>
          </p:cNvSpPr>
          <p:nvPr>
            <p:ph type="dt" sz="half" idx="10"/>
          </p:nvPr>
        </p:nvSpPr>
        <p:spPr/>
        <p:txBody>
          <a:bodyPr/>
          <a:lstStyle/>
          <a:p>
            <a:fld id="{1517A30B-DE31-4528-9630-149B4283C4DE}" type="datetimeFigureOut">
              <a:rPr lang="en-US" smtClean="0"/>
              <a:t>8/12/2023</a:t>
            </a:fld>
            <a:endParaRPr lang="en-US"/>
          </a:p>
        </p:txBody>
      </p:sp>
      <p:sp>
        <p:nvSpPr>
          <p:cNvPr id="6" name="Footer Placeholder 5">
            <a:extLst>
              <a:ext uri="{FF2B5EF4-FFF2-40B4-BE49-F238E27FC236}">
                <a16:creationId xmlns:a16="http://schemas.microsoft.com/office/drawing/2014/main" id="{71B19D26-CEA3-D4B6-DB27-634AB3AC55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D07BDC-7E8B-4786-3891-920F4BD903E2}"/>
              </a:ext>
            </a:extLst>
          </p:cNvPr>
          <p:cNvSpPr>
            <a:spLocks noGrp="1"/>
          </p:cNvSpPr>
          <p:nvPr>
            <p:ph type="sldNum" sz="quarter" idx="12"/>
          </p:nvPr>
        </p:nvSpPr>
        <p:spPr/>
        <p:txBody>
          <a:bodyPr/>
          <a:lstStyle/>
          <a:p>
            <a:fld id="{57B7ECC4-BC82-44E7-9950-312673BE2F8D}" type="slidenum">
              <a:rPr lang="en-US" smtClean="0"/>
              <a:t>‹#›</a:t>
            </a:fld>
            <a:endParaRPr lang="en-US"/>
          </a:p>
        </p:txBody>
      </p:sp>
    </p:spTree>
    <p:extLst>
      <p:ext uri="{BB962C8B-B14F-4D97-AF65-F5344CB8AC3E}">
        <p14:creationId xmlns:p14="http://schemas.microsoft.com/office/powerpoint/2010/main" val="1801505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0EB6C-23BF-A3E3-489B-EFEDC5E27BB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C80CDD-0409-99C4-AAF9-00FF292506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AA6728-CE62-1777-4091-E59083D351C0}"/>
              </a:ext>
            </a:extLst>
          </p:cNvPr>
          <p:cNvSpPr>
            <a:spLocks noGrp="1"/>
          </p:cNvSpPr>
          <p:nvPr>
            <p:ph type="dt" sz="half" idx="10"/>
          </p:nvPr>
        </p:nvSpPr>
        <p:spPr/>
        <p:txBody>
          <a:bodyPr/>
          <a:lstStyle/>
          <a:p>
            <a:fld id="{1517A30B-DE31-4528-9630-149B4283C4DE}" type="datetimeFigureOut">
              <a:rPr lang="en-US" smtClean="0"/>
              <a:t>8/12/2023</a:t>
            </a:fld>
            <a:endParaRPr lang="en-US"/>
          </a:p>
        </p:txBody>
      </p:sp>
      <p:sp>
        <p:nvSpPr>
          <p:cNvPr id="5" name="Footer Placeholder 4">
            <a:extLst>
              <a:ext uri="{FF2B5EF4-FFF2-40B4-BE49-F238E27FC236}">
                <a16:creationId xmlns:a16="http://schemas.microsoft.com/office/drawing/2014/main" id="{122D5196-CADC-D31B-BFF2-BC7096995C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B09B93-40A7-4F03-B1A9-857B285E766B}"/>
              </a:ext>
            </a:extLst>
          </p:cNvPr>
          <p:cNvSpPr>
            <a:spLocks noGrp="1"/>
          </p:cNvSpPr>
          <p:nvPr>
            <p:ph type="sldNum" sz="quarter" idx="12"/>
          </p:nvPr>
        </p:nvSpPr>
        <p:spPr/>
        <p:txBody>
          <a:bodyPr/>
          <a:lstStyle/>
          <a:p>
            <a:fld id="{57B7ECC4-BC82-44E7-9950-312673BE2F8D}" type="slidenum">
              <a:rPr lang="en-US" smtClean="0"/>
              <a:t>‹#›</a:t>
            </a:fld>
            <a:endParaRPr lang="en-US"/>
          </a:p>
        </p:txBody>
      </p:sp>
    </p:spTree>
    <p:extLst>
      <p:ext uri="{BB962C8B-B14F-4D97-AF65-F5344CB8AC3E}">
        <p14:creationId xmlns:p14="http://schemas.microsoft.com/office/powerpoint/2010/main" val="2842748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396D89-42C7-93A7-F6B4-D301B7AA2A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9B486A-A42E-5A1E-A52B-4666F647B4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A35443-5337-F90E-0561-1CA6C330E643}"/>
              </a:ext>
            </a:extLst>
          </p:cNvPr>
          <p:cNvSpPr>
            <a:spLocks noGrp="1"/>
          </p:cNvSpPr>
          <p:nvPr>
            <p:ph type="dt" sz="half" idx="10"/>
          </p:nvPr>
        </p:nvSpPr>
        <p:spPr/>
        <p:txBody>
          <a:bodyPr/>
          <a:lstStyle/>
          <a:p>
            <a:fld id="{1517A30B-DE31-4528-9630-149B4283C4DE}" type="datetimeFigureOut">
              <a:rPr lang="en-US" smtClean="0"/>
              <a:t>8/12/2023</a:t>
            </a:fld>
            <a:endParaRPr lang="en-US"/>
          </a:p>
        </p:txBody>
      </p:sp>
      <p:sp>
        <p:nvSpPr>
          <p:cNvPr id="5" name="Footer Placeholder 4">
            <a:extLst>
              <a:ext uri="{FF2B5EF4-FFF2-40B4-BE49-F238E27FC236}">
                <a16:creationId xmlns:a16="http://schemas.microsoft.com/office/drawing/2014/main" id="{0EBD633F-ACA5-3E89-616D-289EB56645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42D601-9BD3-1D2E-F07C-0C6087E31B52}"/>
              </a:ext>
            </a:extLst>
          </p:cNvPr>
          <p:cNvSpPr>
            <a:spLocks noGrp="1"/>
          </p:cNvSpPr>
          <p:nvPr>
            <p:ph type="sldNum" sz="quarter" idx="12"/>
          </p:nvPr>
        </p:nvSpPr>
        <p:spPr/>
        <p:txBody>
          <a:bodyPr/>
          <a:lstStyle/>
          <a:p>
            <a:fld id="{57B7ECC4-BC82-44E7-9950-312673BE2F8D}" type="slidenum">
              <a:rPr lang="en-US" smtClean="0"/>
              <a:t>‹#›</a:t>
            </a:fld>
            <a:endParaRPr lang="en-US"/>
          </a:p>
        </p:txBody>
      </p:sp>
    </p:spTree>
    <p:extLst>
      <p:ext uri="{BB962C8B-B14F-4D97-AF65-F5344CB8AC3E}">
        <p14:creationId xmlns:p14="http://schemas.microsoft.com/office/powerpoint/2010/main" val="1516751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7ADA05-71B9-1FD3-8A6F-5B158A859F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FF3BD5-16E8-99D4-E9AE-4CFC4891D1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9A0F7A-2DF0-C4C0-B794-76555BD37A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17A30B-DE31-4528-9630-149B4283C4DE}" type="datetimeFigureOut">
              <a:rPr lang="en-US" smtClean="0"/>
              <a:t>8/12/2023</a:t>
            </a:fld>
            <a:endParaRPr lang="en-US"/>
          </a:p>
        </p:txBody>
      </p:sp>
      <p:sp>
        <p:nvSpPr>
          <p:cNvPr id="5" name="Footer Placeholder 4">
            <a:extLst>
              <a:ext uri="{FF2B5EF4-FFF2-40B4-BE49-F238E27FC236}">
                <a16:creationId xmlns:a16="http://schemas.microsoft.com/office/drawing/2014/main" id="{DE55D782-EA91-02F8-392D-E49E48DFCF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568C10D-5398-BE8F-ED85-5B31578CB8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B7ECC4-BC82-44E7-9950-312673BE2F8D}" type="slidenum">
              <a:rPr lang="en-US" smtClean="0"/>
              <a:t>‹#›</a:t>
            </a:fld>
            <a:endParaRPr lang="en-US"/>
          </a:p>
        </p:txBody>
      </p:sp>
    </p:spTree>
    <p:extLst>
      <p:ext uri="{BB962C8B-B14F-4D97-AF65-F5344CB8AC3E}">
        <p14:creationId xmlns:p14="http://schemas.microsoft.com/office/powerpoint/2010/main" val="33696541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BF682-F608-CCC8-F73B-C550412BF9C3}"/>
              </a:ext>
            </a:extLst>
          </p:cNvPr>
          <p:cNvSpPr>
            <a:spLocks noGrp="1"/>
          </p:cNvSpPr>
          <p:nvPr>
            <p:ph type="ctrTitle"/>
          </p:nvPr>
        </p:nvSpPr>
        <p:spPr/>
        <p:txBody>
          <a:bodyPr/>
          <a:lstStyle/>
          <a:p>
            <a:r>
              <a:rPr lang="en-US" dirty="0"/>
              <a:t>CS-250 Final Project</a:t>
            </a:r>
          </a:p>
        </p:txBody>
      </p:sp>
      <p:sp>
        <p:nvSpPr>
          <p:cNvPr id="3" name="Subtitle 2">
            <a:extLst>
              <a:ext uri="{FF2B5EF4-FFF2-40B4-BE49-F238E27FC236}">
                <a16:creationId xmlns:a16="http://schemas.microsoft.com/office/drawing/2014/main" id="{EC32DCB2-EB29-AC5F-29AC-A8A20FED6D14}"/>
              </a:ext>
            </a:extLst>
          </p:cNvPr>
          <p:cNvSpPr>
            <a:spLocks noGrp="1"/>
          </p:cNvSpPr>
          <p:nvPr>
            <p:ph type="subTitle" idx="1"/>
          </p:nvPr>
        </p:nvSpPr>
        <p:spPr/>
        <p:txBody>
          <a:bodyPr/>
          <a:lstStyle/>
          <a:p>
            <a:r>
              <a:rPr lang="en-US"/>
              <a:t>August 12</a:t>
            </a:r>
            <a:r>
              <a:rPr lang="en-US" baseline="30000"/>
              <a:t>th</a:t>
            </a:r>
            <a:r>
              <a:rPr lang="en-US" dirty="0"/>
              <a:t>, 2023</a:t>
            </a:r>
          </a:p>
          <a:p>
            <a:r>
              <a:rPr lang="en-US" dirty="0"/>
              <a:t>Tyler Lever</a:t>
            </a:r>
          </a:p>
        </p:txBody>
      </p:sp>
    </p:spTree>
    <p:extLst>
      <p:ext uri="{BB962C8B-B14F-4D97-AF65-F5344CB8AC3E}">
        <p14:creationId xmlns:p14="http://schemas.microsoft.com/office/powerpoint/2010/main" val="33512263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DB8F-3EFD-BDDB-975E-B05EB5BC6167}"/>
              </a:ext>
            </a:extLst>
          </p:cNvPr>
          <p:cNvSpPr>
            <a:spLocks noGrp="1"/>
          </p:cNvSpPr>
          <p:nvPr>
            <p:ph type="title"/>
          </p:nvPr>
        </p:nvSpPr>
        <p:spPr/>
        <p:txBody>
          <a:bodyPr/>
          <a:lstStyle/>
          <a:p>
            <a:r>
              <a:rPr lang="en-US" dirty="0"/>
              <a:t>Roles</a:t>
            </a:r>
          </a:p>
        </p:txBody>
      </p:sp>
      <p:sp>
        <p:nvSpPr>
          <p:cNvPr id="3" name="Content Placeholder 2">
            <a:extLst>
              <a:ext uri="{FF2B5EF4-FFF2-40B4-BE49-F238E27FC236}">
                <a16:creationId xmlns:a16="http://schemas.microsoft.com/office/drawing/2014/main" id="{DA571DF6-9439-D4DC-7172-CFBFACC49563}"/>
              </a:ext>
            </a:extLst>
          </p:cNvPr>
          <p:cNvSpPr>
            <a:spLocks noGrp="1"/>
          </p:cNvSpPr>
          <p:nvPr>
            <p:ph idx="1"/>
          </p:nvPr>
        </p:nvSpPr>
        <p:spPr>
          <a:xfrm>
            <a:off x="838200" y="1536867"/>
            <a:ext cx="10515600" cy="4351338"/>
          </a:xfrm>
        </p:spPr>
        <p:txBody>
          <a:bodyPr>
            <a:normAutofit/>
          </a:bodyPr>
          <a:lstStyle/>
          <a:p>
            <a:r>
              <a:rPr lang="en-US" dirty="0"/>
              <a:t>Product Owner</a:t>
            </a:r>
          </a:p>
          <a:p>
            <a:pPr lvl="1"/>
            <a:r>
              <a:rPr lang="en-US" dirty="0"/>
              <a:t>The Product Owner is responsible for the overall quality of the project. They do this by clearly defining the objectives to the team and managing backlog. </a:t>
            </a:r>
          </a:p>
          <a:p>
            <a:r>
              <a:rPr lang="en-US" dirty="0"/>
              <a:t>Scrum Master</a:t>
            </a:r>
          </a:p>
          <a:p>
            <a:pPr lvl="1"/>
            <a:r>
              <a:rPr lang="en-US" dirty="0"/>
              <a:t>The Scrum Master serves the Product Owner and acts as a servant leader to the Scrum Team. They are responsible for keeping communication open, but more importantly valuable.</a:t>
            </a:r>
          </a:p>
          <a:p>
            <a:r>
              <a:rPr lang="en-US" dirty="0"/>
              <a:t>The Scrum Team</a:t>
            </a:r>
          </a:p>
          <a:p>
            <a:pPr lvl="1"/>
            <a:r>
              <a:rPr lang="en-US" dirty="0"/>
              <a:t>The Scrum Team is responsible for completing the work that gets the project done. Keeping them from having to work with outside teams help keep them focused on the project.</a:t>
            </a:r>
          </a:p>
        </p:txBody>
      </p:sp>
      <p:sp>
        <p:nvSpPr>
          <p:cNvPr id="4" name="TextBox 3">
            <a:extLst>
              <a:ext uri="{FF2B5EF4-FFF2-40B4-BE49-F238E27FC236}">
                <a16:creationId xmlns:a16="http://schemas.microsoft.com/office/drawing/2014/main" id="{907CB840-3A45-EB2B-56D8-90A3F3083D61}"/>
              </a:ext>
            </a:extLst>
          </p:cNvPr>
          <p:cNvSpPr txBox="1"/>
          <p:nvPr/>
        </p:nvSpPr>
        <p:spPr>
          <a:xfrm>
            <a:off x="1058779" y="6192253"/>
            <a:ext cx="8855242" cy="369332"/>
          </a:xfrm>
          <a:prstGeom prst="rect">
            <a:avLst/>
          </a:prstGeom>
          <a:noFill/>
        </p:spPr>
        <p:txBody>
          <a:bodyPr wrap="square" rtlCol="0">
            <a:spAutoFit/>
          </a:bodyPr>
          <a:lstStyle/>
          <a:p>
            <a:r>
              <a:rPr lang="en-US" dirty="0"/>
              <a:t>(Cobb, 2015)</a:t>
            </a:r>
          </a:p>
        </p:txBody>
      </p:sp>
    </p:spTree>
    <p:extLst>
      <p:ext uri="{BB962C8B-B14F-4D97-AF65-F5344CB8AC3E}">
        <p14:creationId xmlns:p14="http://schemas.microsoft.com/office/powerpoint/2010/main" val="1836109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DB8F-3EFD-BDDB-975E-B05EB5BC6167}"/>
              </a:ext>
            </a:extLst>
          </p:cNvPr>
          <p:cNvSpPr>
            <a:spLocks noGrp="1"/>
          </p:cNvSpPr>
          <p:nvPr>
            <p:ph type="title"/>
          </p:nvPr>
        </p:nvSpPr>
        <p:spPr/>
        <p:txBody>
          <a:bodyPr/>
          <a:lstStyle/>
          <a:p>
            <a:r>
              <a:rPr lang="en-US" dirty="0"/>
              <a:t>Phases</a:t>
            </a:r>
          </a:p>
        </p:txBody>
      </p:sp>
      <p:sp>
        <p:nvSpPr>
          <p:cNvPr id="3" name="Content Placeholder 2">
            <a:extLst>
              <a:ext uri="{FF2B5EF4-FFF2-40B4-BE49-F238E27FC236}">
                <a16:creationId xmlns:a16="http://schemas.microsoft.com/office/drawing/2014/main" id="{DA571DF6-9439-D4DC-7172-CFBFACC49563}"/>
              </a:ext>
            </a:extLst>
          </p:cNvPr>
          <p:cNvSpPr>
            <a:spLocks noGrp="1"/>
          </p:cNvSpPr>
          <p:nvPr>
            <p:ph idx="1"/>
          </p:nvPr>
        </p:nvSpPr>
        <p:spPr/>
        <p:txBody>
          <a:bodyPr>
            <a:normAutofit fontScale="92500"/>
          </a:bodyPr>
          <a:lstStyle/>
          <a:p>
            <a:r>
              <a:rPr lang="en-US" dirty="0"/>
              <a:t>The Analysis Phase</a:t>
            </a:r>
          </a:p>
          <a:p>
            <a:pPr lvl="1"/>
            <a:r>
              <a:rPr lang="en-US" dirty="0"/>
              <a:t>This phase scopes the project. How long will it take, what will it require, etc.</a:t>
            </a:r>
          </a:p>
          <a:p>
            <a:r>
              <a:rPr lang="en-US" dirty="0"/>
              <a:t>Design Phase</a:t>
            </a:r>
          </a:p>
          <a:p>
            <a:pPr lvl="1"/>
            <a:r>
              <a:rPr lang="en-US" dirty="0"/>
              <a:t>This phase starts sketching out the “how” the project is going to be completed. What modules are needed, what teams and size will it require, etc.</a:t>
            </a:r>
          </a:p>
          <a:p>
            <a:r>
              <a:rPr lang="en-US" dirty="0"/>
              <a:t>Implementation Phase</a:t>
            </a:r>
          </a:p>
          <a:p>
            <a:pPr lvl="1"/>
            <a:r>
              <a:rPr lang="en-US" dirty="0"/>
              <a:t>This is the phase of “doing the actual work”. A plan has been made, now go execute.</a:t>
            </a:r>
          </a:p>
          <a:p>
            <a:r>
              <a:rPr lang="en-US" dirty="0"/>
              <a:t>Death March Phase</a:t>
            </a:r>
          </a:p>
          <a:p>
            <a:pPr lvl="1"/>
            <a:r>
              <a:rPr lang="en-US" dirty="0"/>
              <a:t>This phase is the aftermath of the team “going to war”. People are tired and upset from the push to get the project out, but you still need to support the launched product.</a:t>
            </a:r>
          </a:p>
        </p:txBody>
      </p:sp>
      <p:sp>
        <p:nvSpPr>
          <p:cNvPr id="4" name="TextBox 3">
            <a:extLst>
              <a:ext uri="{FF2B5EF4-FFF2-40B4-BE49-F238E27FC236}">
                <a16:creationId xmlns:a16="http://schemas.microsoft.com/office/drawing/2014/main" id="{61E27D92-51C8-27E5-E50C-B09F9B78F228}"/>
              </a:ext>
            </a:extLst>
          </p:cNvPr>
          <p:cNvSpPr txBox="1"/>
          <p:nvPr/>
        </p:nvSpPr>
        <p:spPr>
          <a:xfrm>
            <a:off x="1347537" y="6336632"/>
            <a:ext cx="4957010" cy="369332"/>
          </a:xfrm>
          <a:prstGeom prst="rect">
            <a:avLst/>
          </a:prstGeom>
          <a:noFill/>
        </p:spPr>
        <p:txBody>
          <a:bodyPr wrap="square" rtlCol="0">
            <a:spAutoFit/>
          </a:bodyPr>
          <a:lstStyle/>
          <a:p>
            <a:r>
              <a:rPr lang="en-US" dirty="0"/>
              <a:t>(Martin, 2019)</a:t>
            </a:r>
          </a:p>
        </p:txBody>
      </p:sp>
    </p:spTree>
    <p:extLst>
      <p:ext uri="{BB962C8B-B14F-4D97-AF65-F5344CB8AC3E}">
        <p14:creationId xmlns:p14="http://schemas.microsoft.com/office/powerpoint/2010/main" val="936763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DB8F-3EFD-BDDB-975E-B05EB5BC6167}"/>
              </a:ext>
            </a:extLst>
          </p:cNvPr>
          <p:cNvSpPr>
            <a:spLocks noGrp="1"/>
          </p:cNvSpPr>
          <p:nvPr>
            <p:ph type="title"/>
          </p:nvPr>
        </p:nvSpPr>
        <p:spPr/>
        <p:txBody>
          <a:bodyPr/>
          <a:lstStyle/>
          <a:p>
            <a:r>
              <a:rPr lang="en-US" dirty="0"/>
              <a:t>Waterfall</a:t>
            </a:r>
          </a:p>
        </p:txBody>
      </p:sp>
      <p:sp>
        <p:nvSpPr>
          <p:cNvPr id="3" name="Content Placeholder 2">
            <a:extLst>
              <a:ext uri="{FF2B5EF4-FFF2-40B4-BE49-F238E27FC236}">
                <a16:creationId xmlns:a16="http://schemas.microsoft.com/office/drawing/2014/main" id="{DA571DF6-9439-D4DC-7172-CFBFACC49563}"/>
              </a:ext>
            </a:extLst>
          </p:cNvPr>
          <p:cNvSpPr>
            <a:spLocks noGrp="1"/>
          </p:cNvSpPr>
          <p:nvPr>
            <p:ph idx="1"/>
          </p:nvPr>
        </p:nvSpPr>
        <p:spPr/>
        <p:txBody>
          <a:bodyPr>
            <a:normAutofit lnSpcReduction="10000"/>
          </a:bodyPr>
          <a:lstStyle/>
          <a:p>
            <a:r>
              <a:rPr lang="en-US" dirty="0"/>
              <a:t>Using a Waterfall method would have had a linear path, testers only working on the product after the developers had built it. Instead, with an Agile approach, the Tester was building test cases for each user story, while the Developers had been working on the code. The Testers then worked with the Developers while they coded to help them build a better product on the first attempt.</a:t>
            </a:r>
          </a:p>
          <a:p>
            <a:r>
              <a:rPr lang="en-US" dirty="0"/>
              <a:t>The scope of the project shifted in the middle of the Sprint. If we used a waterfall method and development had already been completed, it could have been a complete rewrite. However, since development occurs during the entire Sprint, it was just making adjustments to what was currently being worked on.</a:t>
            </a:r>
          </a:p>
        </p:txBody>
      </p:sp>
    </p:spTree>
    <p:extLst>
      <p:ext uri="{BB962C8B-B14F-4D97-AF65-F5344CB8AC3E}">
        <p14:creationId xmlns:p14="http://schemas.microsoft.com/office/powerpoint/2010/main" val="3754085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DB8F-3EFD-BDDB-975E-B05EB5BC6167}"/>
              </a:ext>
            </a:extLst>
          </p:cNvPr>
          <p:cNvSpPr>
            <a:spLocks noGrp="1"/>
          </p:cNvSpPr>
          <p:nvPr>
            <p:ph type="title"/>
          </p:nvPr>
        </p:nvSpPr>
        <p:spPr/>
        <p:txBody>
          <a:bodyPr/>
          <a:lstStyle/>
          <a:p>
            <a:r>
              <a:rPr lang="en-US" dirty="0"/>
              <a:t>Factors</a:t>
            </a:r>
          </a:p>
        </p:txBody>
      </p:sp>
      <p:sp>
        <p:nvSpPr>
          <p:cNvPr id="3" name="Content Placeholder 2">
            <a:extLst>
              <a:ext uri="{FF2B5EF4-FFF2-40B4-BE49-F238E27FC236}">
                <a16:creationId xmlns:a16="http://schemas.microsoft.com/office/drawing/2014/main" id="{DA571DF6-9439-D4DC-7172-CFBFACC49563}"/>
              </a:ext>
            </a:extLst>
          </p:cNvPr>
          <p:cNvSpPr>
            <a:spLocks noGrp="1"/>
          </p:cNvSpPr>
          <p:nvPr>
            <p:ph idx="1"/>
          </p:nvPr>
        </p:nvSpPr>
        <p:spPr/>
        <p:txBody>
          <a:bodyPr>
            <a:normAutofit/>
          </a:bodyPr>
          <a:lstStyle/>
          <a:p>
            <a:pPr algn="l">
              <a:buFont typeface="Arial" panose="020B0604020202020204" pitchFamily="34" charset="0"/>
              <a:buChar char="•"/>
            </a:pPr>
            <a:r>
              <a:rPr lang="en-US" sz="2600" b="1" dirty="0">
                <a:ea typeface="Calibri" panose="020F0502020204030204" pitchFamily="34" charset="0"/>
                <a:cs typeface="Calibri" panose="020F0502020204030204" pitchFamily="34" charset="0"/>
              </a:rPr>
              <a:t>Size</a:t>
            </a:r>
          </a:p>
          <a:p>
            <a:pPr lvl="1"/>
            <a:r>
              <a:rPr lang="en-US" sz="2200" b="1" i="0" dirty="0">
                <a:effectLst/>
                <a:ea typeface="Calibri" panose="020F0502020204030204" pitchFamily="34" charset="0"/>
                <a:cs typeface="Calibri" panose="020F0502020204030204" pitchFamily="34" charset="0"/>
              </a:rPr>
              <a:t>Small scale projects probably don’t need an Agile method. If the entire project can be completed in less than a week, </a:t>
            </a:r>
            <a:r>
              <a:rPr lang="en-US" sz="2200" b="1" dirty="0">
                <a:ea typeface="Calibri" panose="020F0502020204030204" pitchFamily="34" charset="0"/>
                <a:cs typeface="Calibri" panose="020F0502020204030204" pitchFamily="34" charset="0"/>
              </a:rPr>
              <a:t>having Scrum meetings almost seems like a waste of time.</a:t>
            </a:r>
          </a:p>
          <a:p>
            <a:pPr algn="l">
              <a:buFont typeface="Arial" panose="020B0604020202020204" pitchFamily="34" charset="0"/>
              <a:buChar char="•"/>
            </a:pPr>
            <a:r>
              <a:rPr lang="en-US" sz="2600" b="1" dirty="0">
                <a:ea typeface="Calibri" panose="020F0502020204030204" pitchFamily="34" charset="0"/>
                <a:cs typeface="Calibri" panose="020F0502020204030204" pitchFamily="34" charset="0"/>
              </a:rPr>
              <a:t>Scope</a:t>
            </a:r>
          </a:p>
          <a:p>
            <a:pPr lvl="1"/>
            <a:r>
              <a:rPr lang="en-US" sz="2200" b="1" dirty="0">
                <a:ea typeface="Calibri" panose="020F0502020204030204" pitchFamily="34" charset="0"/>
                <a:cs typeface="Calibri" panose="020F0502020204030204" pitchFamily="34" charset="0"/>
              </a:rPr>
              <a:t>If the vision of the project is unclear, it would be difficult to implement an Agile approach. For something like this, it’s probably better to “just build” and fall into a Waterfall method.</a:t>
            </a:r>
          </a:p>
          <a:p>
            <a:endParaRPr lang="en-US" dirty="0"/>
          </a:p>
        </p:txBody>
      </p:sp>
    </p:spTree>
    <p:extLst>
      <p:ext uri="{BB962C8B-B14F-4D97-AF65-F5344CB8AC3E}">
        <p14:creationId xmlns:p14="http://schemas.microsoft.com/office/powerpoint/2010/main" val="1010294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DB8F-3EFD-BDDB-975E-B05EB5BC6167}"/>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DA571DF6-9439-D4DC-7172-CFBFACC49563}"/>
              </a:ext>
            </a:extLst>
          </p:cNvPr>
          <p:cNvSpPr>
            <a:spLocks noGrp="1"/>
          </p:cNvSpPr>
          <p:nvPr>
            <p:ph idx="1"/>
          </p:nvPr>
        </p:nvSpPr>
        <p:spPr/>
        <p:txBody>
          <a:bodyPr/>
          <a:lstStyle/>
          <a:p>
            <a:pPr marL="0" indent="0">
              <a:buNone/>
            </a:pPr>
            <a:r>
              <a:rPr lang="en-US" dirty="0"/>
              <a:t>Cobb, C. (2015). </a:t>
            </a:r>
            <a:r>
              <a:rPr lang="en-US" i="1" dirty="0"/>
              <a:t>The Project Manager’s Guide to Mastering Agile: Principles and Practices for an Adaptive Approach. </a:t>
            </a:r>
            <a:r>
              <a:rPr lang="en-US" dirty="0"/>
              <a:t>Wiley.</a:t>
            </a:r>
          </a:p>
          <a:p>
            <a:pPr marL="0" indent="0">
              <a:buNone/>
            </a:pPr>
            <a:endParaRPr lang="en-US" dirty="0"/>
          </a:p>
          <a:p>
            <a:pPr marL="0" indent="0">
              <a:buNone/>
            </a:pPr>
            <a:r>
              <a:rPr lang="en-US" dirty="0"/>
              <a:t>Martin, R. (2019). </a:t>
            </a:r>
            <a:r>
              <a:rPr lang="en-US" i="1" dirty="0"/>
              <a:t>Clean Agile: Back to Basics</a:t>
            </a:r>
            <a:r>
              <a:rPr lang="en-US" dirty="0"/>
              <a:t>. Pearson.</a:t>
            </a:r>
          </a:p>
        </p:txBody>
      </p:sp>
    </p:spTree>
    <p:extLst>
      <p:ext uri="{BB962C8B-B14F-4D97-AF65-F5344CB8AC3E}">
        <p14:creationId xmlns:p14="http://schemas.microsoft.com/office/powerpoint/2010/main" val="5275071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TotalTime>
  <Words>488</Words>
  <Application>Microsoft Office PowerPoint</Application>
  <PresentationFormat>Widescreen</PresentationFormat>
  <Paragraphs>33</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CS-250 Final Project</vt:lpstr>
      <vt:lpstr>Roles</vt:lpstr>
      <vt:lpstr>Phases</vt:lpstr>
      <vt:lpstr>Waterfall</vt:lpstr>
      <vt:lpstr>Factors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CS-250 Final Project</dc:title>
  <dc:creator>Tyler Lever</dc:creator>
  <cp:lastModifiedBy>Tyler Lever</cp:lastModifiedBy>
  <cp:revision>7</cp:revision>
  <dcterms:created xsi:type="dcterms:W3CDTF">2023-08-09T00:00:38Z</dcterms:created>
  <dcterms:modified xsi:type="dcterms:W3CDTF">2023-08-12T22:27:22Z</dcterms:modified>
</cp:coreProperties>
</file>